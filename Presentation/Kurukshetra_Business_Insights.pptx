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Businesses</c:v>
                </c:pt>
              </c:strCache>
            </c:strRef>
          </c:tx>
          <c:spPr>
            <a:solidFill>
              <a:srgbClr val="6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Shopping &amp; Retail</c:v>
                  </c:pt>
                  <c:pt idx="1">
                    <c:v>Cafe &amp; Restaurant</c:v>
                  </c:pt>
                  <c:pt idx="2">
                    <c:v>Salon &amp; Beauty</c:v>
                  </c:pt>
                  <c:pt idx="3">
                    <c:v>Fitness &amp; Sports</c:v>
                  </c:pt>
                  <c:pt idx="4">
                    <c:v>Property</c:v>
                  </c:pt>
                  <c:pt idx="5">
                    <c:v>Medical &amp; Health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311</c:v>
                </c:pt>
                <c:pt idx="1">
                  <c:v>158</c:v>
                </c:pt>
                <c:pt idx="2">
                  <c:v>96</c:v>
                </c:pt>
                <c:pt idx="3">
                  <c:v>56</c:v>
                </c:pt>
                <c:pt idx="4">
                  <c:v>53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A2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D9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3"/>
        </a:solidFill>
        <a:ln>
          <a:noFill/>
        </a:ln>
        <a:effectLst/>
      </c:spPr>
    </c:plotArea>
    <c:plotVisOnly val="1"/>
    <c:dispBlanksAs val="span"/>
  </c:chart>
  <c:spPr>
    <a:solidFill>
      <a:srgbClr val="FBF8F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A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Salon &amp; Beauty</c:v>
                  </c:pt>
                  <c:pt idx="1">
                    <c:v>Fitness &amp; Sports</c:v>
                  </c:pt>
                  <c:pt idx="2">
                    <c:v>Shopping &amp; Retail</c:v>
                  </c:pt>
                  <c:pt idx="3">
                    <c:v>Property</c:v>
                  </c:pt>
                  <c:pt idx="4">
                    <c:v>Cafe &amp; Restaurant</c:v>
                  </c:pt>
                  <c:pt idx="5">
                    <c:v>Medical &amp; Health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4.66</c:v>
                </c:pt>
                <c:pt idx="1">
                  <c:v>4.65</c:v>
                </c:pt>
                <c:pt idx="2">
                  <c:v>4.5</c:v>
                </c:pt>
                <c:pt idx="3">
                  <c:v>4.43</c:v>
                </c:pt>
                <c:pt idx="4">
                  <c:v>4.41</c:v>
                </c:pt>
                <c:pt idx="5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2A2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DE6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Reviews</c:v>
                </c:pt>
              </c:strCache>
            </c:strRef>
          </c:tx>
          <c:spPr>
            <a:solidFill>
              <a:srgbClr val="6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A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Cafe &amp; Restaurant</c:v>
                  </c:pt>
                  <c:pt idx="1">
                    <c:v>Shopping &amp; Retail</c:v>
                  </c:pt>
                  <c:pt idx="2">
                    <c:v>Salon &amp; Beauty</c:v>
                  </c:pt>
                  <c:pt idx="3">
                    <c:v>Fitness &amp; Sports</c:v>
                  </c:pt>
                  <c:pt idx="4">
                    <c:v>Property</c:v>
                  </c:pt>
                  <c:pt idx="5">
                    <c:v>Medical &amp; Health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84066</c:v>
                </c:pt>
                <c:pt idx="1">
                  <c:v>25640</c:v>
                </c:pt>
                <c:pt idx="2">
                  <c:v>8930</c:v>
                </c:pt>
                <c:pt idx="3">
                  <c:v>5597</c:v>
                </c:pt>
                <c:pt idx="4">
                  <c:v>2658</c:v>
                </c:pt>
                <c:pt idx="5">
                  <c:v>1172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A2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6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Opportunity</c:v>
                </c:pt>
              </c:strCache>
            </c:strRef>
          </c:tx>
          <c:spPr>
            <a:solidFill>
              <a:srgbClr val="6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Shopping &amp; Retail</c:v>
                  </c:pt>
                  <c:pt idx="1">
                    <c:v>Cafe &amp; Restaurant</c:v>
                  </c:pt>
                  <c:pt idx="2">
                    <c:v>Salon &amp; Beauty</c:v>
                  </c:pt>
                  <c:pt idx="3">
                    <c:v>Fitness &amp; Sports</c:v>
                  </c:pt>
                  <c:pt idx="4">
                    <c:v>Property</c:v>
                  </c:pt>
                  <c:pt idx="5">
                    <c:v>Medical &amp; Health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144</c:v>
                </c:pt>
                <c:pt idx="2">
                  <c:v>96</c:v>
                </c:pt>
                <c:pt idx="3">
                  <c:v>7</c:v>
                </c:pt>
                <c:pt idx="4">
                  <c:v>7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Transformation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Shopping &amp; Retail</c:v>
                  </c:pt>
                  <c:pt idx="1">
                    <c:v>Cafe &amp; Restaurant</c:v>
                  </c:pt>
                  <c:pt idx="2">
                    <c:v>Salon &amp; Beauty</c:v>
                  </c:pt>
                  <c:pt idx="3">
                    <c:v>Fitness &amp; Sports</c:v>
                  </c:pt>
                  <c:pt idx="4">
                    <c:v>Property</c:v>
                  </c:pt>
                  <c:pt idx="5">
                    <c:v>Medical &amp; Health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3</c:v>
                </c:pt>
                <c:pt idx="2">
                  <c:v>0</c:v>
                </c:pt>
                <c:pt idx="3">
                  <c:v>34</c:v>
                </c:pt>
                <c:pt idx="4">
                  <c:v>27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Growth</c:v>
                </c:pt>
              </c:strCache>
            </c:strRef>
          </c:tx>
          <c:spPr>
            <a:solidFill>
              <a:srgbClr val="D9C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Shopping &amp; Retail</c:v>
                  </c:pt>
                  <c:pt idx="1">
                    <c:v>Cafe &amp; Restaurant</c:v>
                  </c:pt>
                  <c:pt idx="2">
                    <c:v>Salon &amp; Beauty</c:v>
                  </c:pt>
                  <c:pt idx="3">
                    <c:v>Fitness &amp; Sports</c:v>
                  </c:pt>
                  <c:pt idx="4">
                    <c:v>Property</c:v>
                  </c:pt>
                  <c:pt idx="5">
                    <c:v>Medical &amp; Health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109</c:v>
                </c:pt>
                <c:pt idx="1">
                  <c:v>11</c:v>
                </c:pt>
                <c:pt idx="2">
                  <c:v>0</c:v>
                </c:pt>
                <c:pt idx="3">
                  <c:v>15</c:v>
                </c:pt>
                <c:pt idx="4">
                  <c:v>19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D9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6E625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BF8F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6B1E2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6B1E2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KURUKSHETRA, HARYANA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and digital-opportunity analysis of 678 local businesses across six sectors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Kurukshetra Business Master Dataset   •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Kurukshetra's Business Landscape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1691640"/>
            <a:ext cx="512064" cy="512064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8196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58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4360" y="26791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Businesses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289864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sectors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06624" y="150876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47288" y="1691640"/>
            <a:ext cx="512064" cy="512064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1965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06624" y="2258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4.51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752344" y="26791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752344" y="289864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864608" y="150876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05272" y="1691640"/>
            <a:ext cx="512064" cy="512064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81965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64608" y="2258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128K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4910328" y="26791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910328" y="289864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022592" y="150876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63256" y="1691640"/>
            <a:ext cx="512064" cy="512064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81965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22592" y="2258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338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068312" y="26791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Opportunities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068312" y="289864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 &amp; no website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9180576" y="150876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921240" y="1691640"/>
            <a:ext cx="512064" cy="512064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112" y="1819656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80576" y="2258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9226296" y="26791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Transformation Leads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226296" y="289864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top-rated, undiscoverable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548640" y="3337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Count by Sector</a:t>
            </a:r>
            <a:endParaRPr lang="en-US" sz="14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457200" y="365760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Shape 28"/>
          <p:cNvSpPr/>
          <p:nvPr/>
        </p:nvSpPr>
        <p:spPr>
          <a:xfrm>
            <a:off x="6263640" y="3337560"/>
            <a:ext cx="5394960" cy="3154680"/>
          </a:xfrm>
          <a:prstGeom prst="roundRect">
            <a:avLst>
              <a:gd name="adj" fmla="val 2319"/>
            </a:avLst>
          </a:prstGeom>
          <a:solidFill>
            <a:srgbClr val="6B1E2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6537960" y="3566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537960" y="39776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Retail dominates the local economy, accounting for nearly half of all listed businesses.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 of businesses have no website on record — visibility, not quality, is the gap.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strong city-wide (4.51 avg), yet Cafes &amp; Restaurants drive the bulk of review volume.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over half of all businesses (50.6%) also lack a listed phone number.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 — 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Ratings, Reach &amp; Reviews by Sector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by Sector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3035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 by Sector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783080"/>
          <a:ext cx="53949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5577840" cy="214884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097280"/>
                <a:gridCol w="118872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&amp; Retail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&amp; Restaurant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84,066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Salon &amp; Beauty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 &amp; Sports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&amp; 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217920" y="41605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BF8F3"/>
          </a:solidFill>
          <a:ln/>
        </p:spPr>
      </p:sp>
      <p:sp>
        <p:nvSpPr>
          <p:cNvPr id="10" name="Text 5"/>
          <p:cNvSpPr/>
          <p:nvPr/>
        </p:nvSpPr>
        <p:spPr>
          <a:xfrm>
            <a:off x="6446520" y="4315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HIGHLIGHTS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46520" y="461772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&amp; Beauty leads satisfaction (4.66) across 96 outlets.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&amp; Restaurant is the review-volume powerhouse — 84K reviews from 158 listings.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Retail is the largest sector by far (311 listings) but has moderate engagement per business.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&amp; Health is a tiny sample (4 businesses) — directional only.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 — 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OPPORTUNITY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Growth Potential Is Hiding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874520"/>
            <a:ext cx="731520" cy="731520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972" y="2039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338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Opportunity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 or website on record — invisible to online search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06240" y="160020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54980" y="1874520"/>
            <a:ext cx="731520" cy="7315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572" y="20391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2743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4389120" y="3337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Transformation Lead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80560" y="3657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(4.87 avg) businesses still missing a website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863840" y="160020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212580" y="1874520"/>
            <a:ext cx="731520" cy="731520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172" y="203911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0" y="2743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8046720" y="3337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Growth Lead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38160" y="3657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digital presence; room to strengthen it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Status by Sector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4572000"/>
          <a:ext cx="64922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Shape 18"/>
          <p:cNvSpPr/>
          <p:nvPr/>
        </p:nvSpPr>
        <p:spPr>
          <a:xfrm>
            <a:off x="7178040" y="4572000"/>
            <a:ext cx="4480560" cy="1874520"/>
          </a:xfrm>
          <a:prstGeom prst="roundRect">
            <a:avLst>
              <a:gd name="adj" fmla="val 3902"/>
            </a:avLst>
          </a:prstGeom>
          <a:solidFill>
            <a:srgbClr val="6B1E2B"/>
          </a:solidFill>
          <a:ln/>
        </p:spPr>
      </p:sp>
      <p:sp>
        <p:nvSpPr>
          <p:cNvPr id="25" name="Text 19"/>
          <p:cNvSpPr/>
          <p:nvPr/>
        </p:nvSpPr>
        <p:spPr>
          <a:xfrm>
            <a:off x="7406640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TIERS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06640" y="50292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&amp; Beauty is nearly 100% Critical Opportunity — the single most under-digitized sector.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&amp; Sports and Property lean toward High Transformation — quality is already there.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 — 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Performers by Customer Engagement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Highest-reviewed businesses across Kurukshetra — a benchmark for what strong local engagement looks like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772400" cy="4206240"/>
        </p:xfrm>
        <a:graphic>
          <a:graphicData uri="http://schemas.openxmlformats.org/drawingml/2006/table">
            <a:tbl>
              <a:tblPr/>
              <a:tblGrid>
                <a:gridCol w="3749040"/>
                <a:gridCol w="1737360"/>
                <a:gridCol w="9144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Mannat Haveli Kurukshetra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&amp; 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Hut Restaurants &amp; Rooms In Kurukshetra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&amp; 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 Wings, Kurukshetra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&amp; 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Mirchi Hotel &amp; 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&amp; 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McDonald's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&amp; 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Sukhan's Star Dhaba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&amp; 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Vishal Mega 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&amp;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Divine City 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&amp;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Bikaner Mishthan Bhandar, Kurukshetra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&amp; 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HUDA Market Sector 13 Kurukshetra (Street Food)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&amp;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1737360"/>
            <a:ext cx="3108960" cy="4206240"/>
          </a:xfrm>
          <a:prstGeom prst="roundRect">
            <a:avLst>
              <a:gd name="adj" fmla="val 2353"/>
            </a:avLst>
          </a:prstGeom>
          <a:solidFill>
            <a:srgbClr val="FBF8F3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LEADERBOARD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78240" y="2514600"/>
            <a:ext cx="2697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 &amp; Restaurants take 7 of the top 10 spots — the sector's scale converts directly into engagement.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Mannat Haveli Kurukshetra leads with 20,000 reviews, well ahead of the runner-up.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on the leaderboard range from 3.8 to 4.9 — high review volume doesn't always mean the top rating.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businesses are strong reference cases for what unmanaged organic reach can achieve.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 — 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 Into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Visibility Gap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outreach to the 338 Critical Opportunity businesses missing both a phone and a website — the single largest lever for city-wide digital growth.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10512"/>
            <a:ext cx="548640" cy="548640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9476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830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Fast-Track the 185 Top Performers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4231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Transformation Leads already average a 4.87 rating. A basic website and listing would convert proven demand into bookings almost immediately.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50792"/>
            <a:ext cx="548640" cy="548640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879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233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Salon &amp; Beauty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6634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96 Salon &amp; Beauty businesses fall in the Critical Opportunity tier — the most concentrated digital gap of any sector.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050792"/>
            <a:ext cx="548640" cy="548640"/>
          </a:xfrm>
          <a:prstGeom prst="ellipse">
            <a:avLst/>
          </a:prstGeom>
          <a:solidFill>
            <a:srgbClr val="6B1E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879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233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What Works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46634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Cafe &amp; Restaurant and Salon &amp; Beauty — highest reviews and ratings respectively — as case studies to show other sectors the ROI of an active online presence.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 — 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4572000" cy="4572000"/>
          </a:xfrm>
          <a:prstGeom prst="ellipse">
            <a:avLst/>
          </a:prstGeom>
          <a:solidFill>
            <a:srgbClr val="6B1E2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6B1E2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 BUSINESS INSIGHTS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678 businesses. One shared opportunity.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Kurukshetra's best-rated businesses online is the fastest path to unlocking the city's next wave of growth.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 — BUSINESS INSIGHTS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Kurukshetra Business Insights Dashboard</dc:title>
  <dc:subject>PptxGenJS Presentation</dc:subject>
  <dc:creator>Business Insights</dc:creator>
  <cp:lastModifiedBy>Business Insights</cp:lastModifiedBy>
  <cp:revision>1</cp:revision>
  <dcterms:created xsi:type="dcterms:W3CDTF">2026-07-03T14:28:04Z</dcterms:created>
  <dcterms:modified xsi:type="dcterms:W3CDTF">2026-07-03T14:28:04Z</dcterms:modified>
</cp:coreProperties>
</file>